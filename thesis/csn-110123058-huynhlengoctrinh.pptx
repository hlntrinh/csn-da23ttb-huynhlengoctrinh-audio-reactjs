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 Bold" charset="1" panose="00000800000000000000"/>
      <p:regular r:id="rId15"/>
    </p:embeddedFont>
    <p:embeddedFont>
      <p:font typeface="Noto Sans Bold" charset="1" panose="020B0802040504020204"/>
      <p:regular r:id="rId16"/>
    </p:embeddedFont>
    <p:embeddedFont>
      <p:font typeface="Poppins" charset="1" panose="00000500000000000000"/>
      <p:regular r:id="rId17"/>
    </p:embeddedFont>
    <p:embeddedFont>
      <p:font typeface="Canva Sans Bold" charset="1" panose="020B0803030501040103"/>
      <p:regular r:id="rId18"/>
    </p:embeddedFont>
    <p:embeddedFont>
      <p:font typeface="Noto Sans" charset="1" panose="020B0502040504020204"/>
      <p:regular r:id="rId19"/>
    </p:embeddedFont>
    <p:embeddedFont>
      <p:font typeface="UTM Avo Bold" charset="1" panose="02040603050506020204"/>
      <p:regular r:id="rId20"/>
    </p:embeddedFont>
    <p:embeddedFont>
      <p:font typeface="Open Sans Bold" charset="1" panose="00000000000000000000"/>
      <p:regular r:id="rId21"/>
    </p:embeddedFont>
    <p:embeddedFont>
      <p:font typeface="Montserrat Ultra-Bold" charset="1" panose="00000900000000000000"/>
      <p:regular r:id="rId22"/>
    </p:embeddedFont>
    <p:embeddedFont>
      <p:font typeface="Canva Sans" charset="1" panose="020B0503030501040103"/>
      <p:regular r:id="rId23"/>
    </p:embeddedFont>
    <p:embeddedFont>
      <p:font typeface="Montserrat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4735" y="21725"/>
            <a:ext cx="3846870" cy="2013949"/>
          </a:xfrm>
          <a:custGeom>
            <a:avLst/>
            <a:gdLst/>
            <a:ahLst/>
            <a:cxnLst/>
            <a:rect r="r" b="b" t="t" l="l"/>
            <a:pathLst>
              <a:path h="2013949" w="3846870">
                <a:moveTo>
                  <a:pt x="0" y="0"/>
                </a:moveTo>
                <a:lnTo>
                  <a:pt x="3846870" y="0"/>
                </a:lnTo>
                <a:lnTo>
                  <a:pt x="3846870" y="2013950"/>
                </a:lnTo>
                <a:lnTo>
                  <a:pt x="0" y="201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8874" y="3958677"/>
            <a:ext cx="17614278" cy="22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39"/>
              </a:lnSpc>
            </a:pPr>
            <a:r>
              <a:rPr lang="en-US" b="true" sz="6456">
                <a:solidFill>
                  <a:srgbClr val="0334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THIẾT KẾ FRONT-END </a:t>
            </a:r>
          </a:p>
          <a:p>
            <a:pPr algn="ctr">
              <a:lnSpc>
                <a:spcPts val="9039"/>
              </a:lnSpc>
              <a:spcBef>
                <a:spcPct val="0"/>
              </a:spcBef>
            </a:pPr>
            <a:r>
              <a:rPr lang="en-US" b="true" sz="6456">
                <a:solidFill>
                  <a:srgbClr val="0334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CHO WEBSITE NGHE NHẠC TRỰC TUYẾN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33197" y="165210"/>
            <a:ext cx="4942190" cy="48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1"/>
              </a:lnSpc>
              <a:spcBef>
                <a:spcPct val="0"/>
              </a:spcBef>
            </a:pPr>
            <a:r>
              <a:rPr lang="en-US" b="true" sz="2786" spc="-55">
                <a:solidFill>
                  <a:srgbClr val="0036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TRƯỜNG ĐẠI HỌC TRÀ VINH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38011" y="7619569"/>
            <a:ext cx="7366063" cy="195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Sinh viên thực hiện: Huỳnh Lê Ngọc Trinh</a:t>
            </a:r>
          </a:p>
          <a:p>
            <a:pPr algn="l">
              <a:lnSpc>
                <a:spcPts val="3855"/>
              </a:lnSpc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Lớp: DA23TTB</a:t>
            </a:r>
          </a:p>
          <a:p>
            <a:pPr algn="l">
              <a:lnSpc>
                <a:spcPts val="3855"/>
              </a:lnSpc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MSSV: 110123058</a:t>
            </a:r>
          </a:p>
          <a:p>
            <a:pPr algn="l">
              <a:lnSpc>
                <a:spcPts val="3855"/>
              </a:lnSpc>
              <a:spcBef>
                <a:spcPct val="0"/>
              </a:spcBef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GVHD: Phạm Minh Đương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36999" y="705472"/>
            <a:ext cx="5718571" cy="42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  <a:spcBef>
                <a:spcPct val="0"/>
              </a:spcBef>
            </a:pPr>
            <a:r>
              <a:rPr lang="en-US" b="true" sz="2486" spc="-49">
                <a:solidFill>
                  <a:srgbClr val="0036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TRƯỜNG KỸ THUẬT VÀ CÔNG NGHỆ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04292" y="2173826"/>
            <a:ext cx="8703442" cy="67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9"/>
              </a:lnSpc>
              <a:spcBef>
                <a:spcPct val="0"/>
              </a:spcBef>
            </a:pPr>
            <a:r>
              <a:rPr lang="en-US" b="true" sz="3935" spc="-78">
                <a:solidFill>
                  <a:srgbClr val="1968D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THỰC TẬP ĐỒ ÁN CƠ SỞ NGÀNH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43427" y="2963839"/>
            <a:ext cx="8703442" cy="76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9"/>
              </a:lnSpc>
              <a:spcBef>
                <a:spcPct val="0"/>
              </a:spcBef>
            </a:pPr>
            <a:r>
              <a:rPr lang="en-US" sz="4435" spc="-88">
                <a:solidFill>
                  <a:srgbClr val="033482"/>
                </a:solidFill>
                <a:latin typeface="Noto Sans"/>
                <a:ea typeface="Noto Sans"/>
                <a:cs typeface="Noto Sans"/>
                <a:sym typeface="Noto Sans"/>
              </a:rPr>
              <a:t>ĐỀ TÀI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3574" y="1979594"/>
            <a:ext cx="7431250" cy="1454236"/>
            <a:chOff x="0" y="0"/>
            <a:chExt cx="3040667" cy="5950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0667" cy="595034"/>
            </a:xfrm>
            <a:custGeom>
              <a:avLst/>
              <a:gdLst/>
              <a:ahLst/>
              <a:cxnLst/>
              <a:rect r="r" b="b" t="t" l="l"/>
              <a:pathLst>
                <a:path h="595034" w="3040667">
                  <a:moveTo>
                    <a:pt x="2837467" y="0"/>
                  </a:moveTo>
                  <a:lnTo>
                    <a:pt x="0" y="0"/>
                  </a:lnTo>
                  <a:lnTo>
                    <a:pt x="0" y="595034"/>
                  </a:lnTo>
                  <a:lnTo>
                    <a:pt x="2837467" y="595034"/>
                  </a:lnTo>
                  <a:lnTo>
                    <a:pt x="3040667" y="297517"/>
                  </a:lnTo>
                  <a:lnTo>
                    <a:pt x="2837467" y="0"/>
                  </a:ln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26367" cy="62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94009" y="3967230"/>
            <a:ext cx="7082764" cy="1454236"/>
            <a:chOff x="0" y="0"/>
            <a:chExt cx="2898076" cy="5950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98076" cy="595034"/>
            </a:xfrm>
            <a:custGeom>
              <a:avLst/>
              <a:gdLst/>
              <a:ahLst/>
              <a:cxnLst/>
              <a:rect r="r" b="b" t="t" l="l"/>
              <a:pathLst>
                <a:path h="595034" w="2898076">
                  <a:moveTo>
                    <a:pt x="2694876" y="0"/>
                  </a:moveTo>
                  <a:lnTo>
                    <a:pt x="0" y="0"/>
                  </a:lnTo>
                  <a:lnTo>
                    <a:pt x="0" y="595034"/>
                  </a:lnTo>
                  <a:lnTo>
                    <a:pt x="2694876" y="595034"/>
                  </a:lnTo>
                  <a:lnTo>
                    <a:pt x="2898076" y="297517"/>
                  </a:lnTo>
                  <a:lnTo>
                    <a:pt x="2694876" y="0"/>
                  </a:lnTo>
                  <a:close/>
                </a:path>
              </a:pathLst>
            </a:custGeom>
            <a:solidFill>
              <a:srgbClr val="C2F6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783776" cy="623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37991" y="5894487"/>
            <a:ext cx="7102417" cy="1496095"/>
            <a:chOff x="0" y="0"/>
            <a:chExt cx="2349250" cy="4948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9250" cy="494860"/>
            </a:xfrm>
            <a:custGeom>
              <a:avLst/>
              <a:gdLst/>
              <a:ahLst/>
              <a:cxnLst/>
              <a:rect r="r" b="b" t="t" l="l"/>
              <a:pathLst>
                <a:path h="494860" w="2349250">
                  <a:moveTo>
                    <a:pt x="2146050" y="0"/>
                  </a:moveTo>
                  <a:lnTo>
                    <a:pt x="0" y="0"/>
                  </a:lnTo>
                  <a:lnTo>
                    <a:pt x="0" y="494860"/>
                  </a:lnTo>
                  <a:lnTo>
                    <a:pt x="2146050" y="494860"/>
                  </a:lnTo>
                  <a:lnTo>
                    <a:pt x="2349250" y="247430"/>
                  </a:lnTo>
                  <a:lnTo>
                    <a:pt x="2146050" y="0"/>
                  </a:lnTo>
                  <a:close/>
                </a:path>
              </a:pathLst>
            </a:custGeom>
            <a:solidFill>
              <a:srgbClr val="C2FF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234950" cy="523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9124950"/>
            <a:ext cx="18288000" cy="484309"/>
            <a:chOff x="0" y="0"/>
            <a:chExt cx="24384000" cy="64574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7895079" y="0"/>
              <a:ext cx="1786582" cy="645746"/>
              <a:chOff x="0" y="0"/>
              <a:chExt cx="1157227" cy="4182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8051565" y="0"/>
              <a:ext cx="1786582" cy="645746"/>
              <a:chOff x="0" y="0"/>
              <a:chExt cx="1157227" cy="41827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6581240" y="0"/>
              <a:ext cx="1786582" cy="645746"/>
              <a:chOff x="0" y="0"/>
              <a:chExt cx="1157227" cy="4182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0D14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8525391" y="0"/>
              <a:ext cx="1786582" cy="645746"/>
              <a:chOff x="0" y="0"/>
              <a:chExt cx="1157227" cy="4182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9838147" y="0"/>
              <a:ext cx="4545853" cy="645746"/>
              <a:chOff x="0" y="0"/>
              <a:chExt cx="842430" cy="1196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42430" cy="119669"/>
              </a:xfrm>
              <a:custGeom>
                <a:avLst/>
                <a:gdLst/>
                <a:ahLst/>
                <a:cxnLst/>
                <a:rect r="r" b="b" t="t" l="l"/>
                <a:pathLst>
                  <a:path h="119669" w="842430">
                    <a:moveTo>
                      <a:pt x="0" y="0"/>
                    </a:moveTo>
                    <a:lnTo>
                      <a:pt x="842430" y="0"/>
                    </a:lnTo>
                    <a:lnTo>
                      <a:pt x="842430" y="119669"/>
                    </a:lnTo>
                    <a:lnTo>
                      <a:pt x="0" y="119669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842430" cy="148244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6401017" y="0"/>
              <a:ext cx="1786582" cy="645746"/>
              <a:chOff x="0" y="0"/>
              <a:chExt cx="1157227" cy="41827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748541" y="0"/>
              <a:ext cx="12937130" cy="645746"/>
              <a:chOff x="0" y="0"/>
              <a:chExt cx="8379798" cy="41827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379798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8379798">
                    <a:moveTo>
                      <a:pt x="203200" y="0"/>
                    </a:moveTo>
                    <a:lnTo>
                      <a:pt x="8379798" y="0"/>
                    </a:lnTo>
                    <a:lnTo>
                      <a:pt x="8176598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01600" y="-28575"/>
                <a:ext cx="8176598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sp>
          <p:nvSpPr>
            <p:cNvPr name="AutoShape 33" id="33"/>
            <p:cNvSpPr/>
            <p:nvPr/>
          </p:nvSpPr>
          <p:spPr>
            <a:xfrm flipH="true">
              <a:off x="18713632" y="316085"/>
              <a:ext cx="2886884" cy="0"/>
            </a:xfrm>
            <a:prstGeom prst="line">
              <a:avLst/>
            </a:prstGeom>
            <a:ln cap="flat" w="1357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2831711" y="65489"/>
              <a:ext cx="342715" cy="537647"/>
            </a:xfrm>
            <a:custGeom>
              <a:avLst/>
              <a:gdLst/>
              <a:ahLst/>
              <a:cxnLst/>
              <a:rect r="r" b="b" t="t" l="l"/>
              <a:pathLst>
                <a:path h="537647" w="342715">
                  <a:moveTo>
                    <a:pt x="0" y="0"/>
                  </a:moveTo>
                  <a:lnTo>
                    <a:pt x="342715" y="0"/>
                  </a:lnTo>
                  <a:lnTo>
                    <a:pt x="342715" y="537647"/>
                  </a:lnTo>
                  <a:lnTo>
                    <a:pt x="0" y="53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80636" t="-596077" r="-461893" b="-1700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21600517" y="56131"/>
              <a:ext cx="1231194" cy="538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Devotion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Transparency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Friendliness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Innovation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138864" cy="645746"/>
              <a:chOff x="0" y="0"/>
              <a:chExt cx="1319213" cy="11932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319213" cy="119329"/>
              </a:xfrm>
              <a:custGeom>
                <a:avLst/>
                <a:gdLst/>
                <a:ahLst/>
                <a:cxnLst/>
                <a:rect r="r" b="b" t="t" l="l"/>
                <a:pathLst>
                  <a:path h="119329" w="1319213">
                    <a:moveTo>
                      <a:pt x="0" y="0"/>
                    </a:moveTo>
                    <a:lnTo>
                      <a:pt x="1319213" y="0"/>
                    </a:lnTo>
                    <a:lnTo>
                      <a:pt x="1319213" y="119329"/>
                    </a:lnTo>
                    <a:lnTo>
                      <a:pt x="0" y="119329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1319213" cy="1669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3"/>
                  </a:lnSpc>
                </a:pP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1838439" y="2210016"/>
            <a:ext cx="1795570" cy="1059788"/>
            <a:chOff x="0" y="0"/>
            <a:chExt cx="921211" cy="543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5817" y="0"/>
              <a:ext cx="878194" cy="543720"/>
            </a:xfrm>
            <a:custGeom>
              <a:avLst/>
              <a:gdLst/>
              <a:ahLst/>
              <a:cxnLst/>
              <a:rect r="r" b="b" t="t" l="l"/>
              <a:pathLst>
                <a:path h="543720" w="878194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007A3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10039" y="4164454"/>
            <a:ext cx="1795570" cy="1059788"/>
            <a:chOff x="0" y="0"/>
            <a:chExt cx="921211" cy="543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5817" y="0"/>
              <a:ext cx="878194" cy="543720"/>
            </a:xfrm>
            <a:custGeom>
              <a:avLst/>
              <a:gdLst/>
              <a:ahLst/>
              <a:cxnLst/>
              <a:rect r="r" b="b" t="t" l="l"/>
              <a:pathLst>
                <a:path h="543720" w="878194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10039" y="6049316"/>
            <a:ext cx="1795570" cy="1059788"/>
            <a:chOff x="0" y="0"/>
            <a:chExt cx="921211" cy="543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25817" y="0"/>
              <a:ext cx="878194" cy="543720"/>
            </a:xfrm>
            <a:custGeom>
              <a:avLst/>
              <a:gdLst/>
              <a:ahLst/>
              <a:cxnLst/>
              <a:rect r="r" b="b" t="t" l="l"/>
              <a:pathLst>
                <a:path h="543720" w="878194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779903" y="96653"/>
            <a:ext cx="4326325" cy="711281"/>
            <a:chOff x="0" y="0"/>
            <a:chExt cx="5768433" cy="948374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948374" cy="948374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0" r="0" b="0"/>
                </a:stretch>
              </a:blipFill>
            </p:spPr>
          </p:sp>
        </p:grpSp>
        <p:sp>
          <p:nvSpPr>
            <p:cNvPr name="TextBox 51" id="51"/>
            <p:cNvSpPr txBox="true"/>
            <p:nvPr/>
          </p:nvSpPr>
          <p:spPr>
            <a:xfrm rot="0">
              <a:off x="1035145" y="40601"/>
              <a:ext cx="4166945" cy="838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2"/>
                </a:lnSpc>
              </a:pPr>
              <a:r>
                <a:rPr lang="en-US" sz="1574" b="true">
                  <a:solidFill>
                    <a:srgbClr val="05348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ĐẠI HỌC TRÀ VINH</a:t>
              </a:r>
            </a:p>
            <a:p>
              <a:pPr algn="l">
                <a:lnSpc>
                  <a:spcPts val="1585"/>
                </a:lnSpc>
              </a:pPr>
              <a:r>
                <a:rPr lang="en-US" sz="1148" b="true">
                  <a:solidFill>
                    <a:srgbClr val="053BA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KỸ THUẬT VÀ CÔNG NGHỆ</a:t>
              </a:r>
            </a:p>
            <a:p>
              <a:pPr algn="l">
                <a:lnSpc>
                  <a:spcPts val="1291"/>
                </a:lnSpc>
              </a:pPr>
              <a:r>
                <a:rPr lang="en-US" sz="935" b="true">
                  <a:solidFill>
                    <a:srgbClr val="0047C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KHOA CÔNG NGHỆ THÔNG TIN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4802286" y="0"/>
              <a:ext cx="966147" cy="948374"/>
            </a:xfrm>
            <a:custGeom>
              <a:avLst/>
              <a:gdLst/>
              <a:ahLst/>
              <a:cxnLst/>
              <a:rect r="r" b="b" t="t" l="l"/>
              <a:pathLst>
                <a:path h="948374" w="966147">
                  <a:moveTo>
                    <a:pt x="0" y="0"/>
                  </a:moveTo>
                  <a:lnTo>
                    <a:pt x="966147" y="0"/>
                  </a:lnTo>
                  <a:lnTo>
                    <a:pt x="966147" y="948374"/>
                  </a:lnTo>
                  <a:lnTo>
                    <a:pt x="0" y="948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07652" t="-5236" r="0" b="0"/>
              </a:stretch>
            </a:blipFill>
          </p:spPr>
        </p:sp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31963" y="722200"/>
            <a:ext cx="6708749" cy="7409192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4255812" y="2443186"/>
            <a:ext cx="4516483" cy="51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b="true" sz="3400">
                <a:solidFill>
                  <a:srgbClr val="1C1C1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Tổng quan về đề tài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010704" y="4305274"/>
            <a:ext cx="5006700" cy="49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>
                <a:solidFill>
                  <a:srgbClr val="1C1C1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Nội dung nghiên cứu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692887" y="6331549"/>
            <a:ext cx="6164358" cy="49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>
                <a:solidFill>
                  <a:srgbClr val="1C1C1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Kết luận và hướng phát triển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73896" y="9676965"/>
            <a:ext cx="6173976" cy="72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HUỲNH LÊ NGỌC TRINH-DA23TTB-110123058</a:t>
            </a:r>
          </a:p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﻿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660485" y="9657915"/>
            <a:ext cx="1232815" cy="5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>
                <a:solidFill>
                  <a:srgbClr val="00366B"/>
                </a:solidFill>
                <a:latin typeface="Noto Sans"/>
                <a:ea typeface="Noto Sans"/>
                <a:cs typeface="Noto Sans"/>
                <a:sym typeface="Noto Sans"/>
              </a:rPr>
              <a:t>01/15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294583" y="2359733"/>
            <a:ext cx="883283" cy="77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22"/>
              </a:lnSpc>
            </a:pPr>
            <a:r>
              <a:rPr lang="en-US" b="true" sz="4587" spc="19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210726" y="4219549"/>
            <a:ext cx="883283" cy="77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22"/>
              </a:lnSpc>
            </a:pPr>
            <a:r>
              <a:rPr lang="en-US" b="true" sz="4587" spc="19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294583" y="6210261"/>
            <a:ext cx="883283" cy="77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22"/>
              </a:lnSpc>
            </a:pPr>
            <a:r>
              <a:rPr lang="en-US" b="true" sz="4587" spc="19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95645" y="679757"/>
            <a:ext cx="8576463" cy="76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9"/>
              </a:lnSpc>
            </a:pPr>
            <a:r>
              <a:rPr lang="en-US" b="true" sz="5499">
                <a:solidFill>
                  <a:srgbClr val="05348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Nội dung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7487" y="2149005"/>
            <a:ext cx="5660569" cy="1130343"/>
            <a:chOff x="0" y="0"/>
            <a:chExt cx="2775945" cy="554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5945" cy="554320"/>
            </a:xfrm>
            <a:custGeom>
              <a:avLst/>
              <a:gdLst/>
              <a:ahLst/>
              <a:cxnLst/>
              <a:rect r="r" b="b" t="t" l="l"/>
              <a:pathLst>
                <a:path h="55432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510554"/>
                  </a:lnTo>
                  <a:cubicBezTo>
                    <a:pt x="2775945" y="534726"/>
                    <a:pt x="2756350" y="554320"/>
                    <a:pt x="2732179" y="554320"/>
                  </a:cubicBezTo>
                  <a:lnTo>
                    <a:pt x="43766" y="554320"/>
                  </a:lnTo>
                  <a:cubicBezTo>
                    <a:pt x="19595" y="554320"/>
                    <a:pt x="0" y="534726"/>
                    <a:pt x="0" y="51055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EAE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75945" cy="60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87830" y="4473575"/>
            <a:ext cx="72455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77991" y="2872969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8193" y="7689536"/>
            <a:ext cx="99843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87909" y="5260590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2964" y="860569"/>
            <a:ext cx="8576463" cy="76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9"/>
              </a:lnSpc>
            </a:pPr>
            <a:r>
              <a:rPr lang="en-US" b="true" sz="5499">
                <a:solidFill>
                  <a:srgbClr val="05348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I. </a:t>
            </a:r>
            <a:r>
              <a:rPr lang="en-US" b="true" sz="5499">
                <a:solidFill>
                  <a:srgbClr val="05348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Tổng quan về đề tài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38534" y="2374122"/>
            <a:ext cx="4798475" cy="61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Lý do chọn đề tài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377911" y="115049"/>
            <a:ext cx="4326325" cy="711281"/>
            <a:chOff x="0" y="0"/>
            <a:chExt cx="5768433" cy="94837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48374" cy="94837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035145" y="40601"/>
              <a:ext cx="4166945" cy="838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2"/>
                </a:lnSpc>
              </a:pPr>
              <a:r>
                <a:rPr lang="en-US" sz="1574" b="true">
                  <a:solidFill>
                    <a:srgbClr val="05348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ĐẠI HỌC TRÀ VINH</a:t>
              </a:r>
            </a:p>
            <a:p>
              <a:pPr algn="l">
                <a:lnSpc>
                  <a:spcPts val="1585"/>
                </a:lnSpc>
              </a:pPr>
              <a:r>
                <a:rPr lang="en-US" sz="1148" b="true">
                  <a:solidFill>
                    <a:srgbClr val="053BA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KỸ THUẬT VÀ CÔNG NGHỆ</a:t>
              </a:r>
            </a:p>
            <a:p>
              <a:pPr algn="l">
                <a:lnSpc>
                  <a:spcPts val="1291"/>
                </a:lnSpc>
              </a:pPr>
              <a:r>
                <a:rPr lang="en-US" sz="935" b="true">
                  <a:solidFill>
                    <a:srgbClr val="0047C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KHOA CÔNG NGHỆ THÔNG TIN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4802286" y="0"/>
              <a:ext cx="966147" cy="948374"/>
            </a:xfrm>
            <a:custGeom>
              <a:avLst/>
              <a:gdLst/>
              <a:ahLst/>
              <a:cxnLst/>
              <a:rect r="r" b="b" t="t" l="l"/>
              <a:pathLst>
                <a:path h="948374" w="966147">
                  <a:moveTo>
                    <a:pt x="0" y="0"/>
                  </a:moveTo>
                  <a:lnTo>
                    <a:pt x="966147" y="0"/>
                  </a:lnTo>
                  <a:lnTo>
                    <a:pt x="966147" y="948374"/>
                  </a:lnTo>
                  <a:lnTo>
                    <a:pt x="0" y="948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07652" t="-5236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795792" y="3519191"/>
            <a:ext cx="12438412" cy="3933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85192" indent="-442596" lvl="1">
              <a:lnSpc>
                <a:spcPts val="7995"/>
              </a:lnSpc>
              <a:buFont typeface="Arial"/>
              <a:buChar char="•"/>
            </a:pPr>
            <a:r>
              <a:rPr lang="en-US" sz="4100">
                <a:solidFill>
                  <a:srgbClr val="062F7A"/>
                </a:solidFill>
                <a:latin typeface="Canva Sans"/>
                <a:ea typeface="Canva Sans"/>
                <a:cs typeface="Canva Sans"/>
                <a:sym typeface="Canva Sans"/>
              </a:rPr>
              <a:t>Sự phát triển của Internet và các dịch vụ nghe nhạc trực tuyến</a:t>
            </a:r>
          </a:p>
          <a:p>
            <a:pPr algn="just" marL="885192" indent="-442596" lvl="1">
              <a:lnSpc>
                <a:spcPts val="7995"/>
              </a:lnSpc>
              <a:buFont typeface="Arial"/>
              <a:buChar char="•"/>
            </a:pPr>
            <a:r>
              <a:rPr lang="en-US" sz="4100">
                <a:solidFill>
                  <a:srgbClr val="062F7A"/>
                </a:solidFill>
                <a:latin typeface="Canva Sans"/>
                <a:ea typeface="Canva Sans"/>
                <a:cs typeface="Canva Sans"/>
                <a:sym typeface="Canva Sans"/>
              </a:rPr>
              <a:t>Nhu cầu cao về trải nghiệm người dùng và giao diện website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9016145"/>
            <a:ext cx="18288000" cy="484309"/>
            <a:chOff x="0" y="0"/>
            <a:chExt cx="24384000" cy="64574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7895079" y="0"/>
              <a:ext cx="1786582" cy="645746"/>
              <a:chOff x="0" y="0"/>
              <a:chExt cx="1157227" cy="4182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8051565" y="0"/>
              <a:ext cx="1786582" cy="645746"/>
              <a:chOff x="0" y="0"/>
              <a:chExt cx="1157227" cy="4182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6581240" y="0"/>
              <a:ext cx="1786582" cy="645746"/>
              <a:chOff x="0" y="0"/>
              <a:chExt cx="1157227" cy="4182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0D14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8525391" y="0"/>
              <a:ext cx="1786582" cy="645746"/>
              <a:chOff x="0" y="0"/>
              <a:chExt cx="1157227" cy="41827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9838147" y="0"/>
              <a:ext cx="4545853" cy="645746"/>
              <a:chOff x="0" y="0"/>
              <a:chExt cx="842430" cy="11966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42430" cy="119669"/>
              </a:xfrm>
              <a:custGeom>
                <a:avLst/>
                <a:gdLst/>
                <a:ahLst/>
                <a:cxnLst/>
                <a:rect r="r" b="b" t="t" l="l"/>
                <a:pathLst>
                  <a:path h="119669" w="842430">
                    <a:moveTo>
                      <a:pt x="0" y="0"/>
                    </a:moveTo>
                    <a:lnTo>
                      <a:pt x="842430" y="0"/>
                    </a:lnTo>
                    <a:lnTo>
                      <a:pt x="842430" y="119669"/>
                    </a:lnTo>
                    <a:lnTo>
                      <a:pt x="0" y="119669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842430" cy="148244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6401017" y="0"/>
              <a:ext cx="1786582" cy="645746"/>
              <a:chOff x="0" y="0"/>
              <a:chExt cx="1157227" cy="41827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4748541" y="0"/>
              <a:ext cx="12937130" cy="645746"/>
              <a:chOff x="0" y="0"/>
              <a:chExt cx="8379798" cy="41827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379798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8379798">
                    <a:moveTo>
                      <a:pt x="203200" y="0"/>
                    </a:moveTo>
                    <a:lnTo>
                      <a:pt x="8379798" y="0"/>
                    </a:lnTo>
                    <a:lnTo>
                      <a:pt x="8176598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01600" y="-28575"/>
                <a:ext cx="8176598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sp>
          <p:nvSpPr>
            <p:cNvPr name="AutoShape 39" id="39"/>
            <p:cNvSpPr/>
            <p:nvPr/>
          </p:nvSpPr>
          <p:spPr>
            <a:xfrm flipH="true">
              <a:off x="18713632" y="316085"/>
              <a:ext cx="2886884" cy="0"/>
            </a:xfrm>
            <a:prstGeom prst="line">
              <a:avLst/>
            </a:prstGeom>
            <a:ln cap="flat" w="1357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2831711" y="65489"/>
              <a:ext cx="342715" cy="537647"/>
            </a:xfrm>
            <a:custGeom>
              <a:avLst/>
              <a:gdLst/>
              <a:ahLst/>
              <a:cxnLst/>
              <a:rect r="r" b="b" t="t" l="l"/>
              <a:pathLst>
                <a:path h="537647" w="342715">
                  <a:moveTo>
                    <a:pt x="0" y="0"/>
                  </a:moveTo>
                  <a:lnTo>
                    <a:pt x="342715" y="0"/>
                  </a:lnTo>
                  <a:lnTo>
                    <a:pt x="342715" y="537647"/>
                  </a:lnTo>
                  <a:lnTo>
                    <a:pt x="0" y="53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80636" t="-596077" r="-461893" b="-1700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21600517" y="56131"/>
              <a:ext cx="1231194" cy="538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Devotion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Transparency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Friendliness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Innovation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0" y="0"/>
              <a:ext cx="7138864" cy="645746"/>
              <a:chOff x="0" y="0"/>
              <a:chExt cx="1319213" cy="11932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319213" cy="119329"/>
              </a:xfrm>
              <a:custGeom>
                <a:avLst/>
                <a:gdLst/>
                <a:ahLst/>
                <a:cxnLst/>
                <a:rect r="r" b="b" t="t" l="l"/>
                <a:pathLst>
                  <a:path h="119329" w="1319213">
                    <a:moveTo>
                      <a:pt x="0" y="0"/>
                    </a:moveTo>
                    <a:lnTo>
                      <a:pt x="1319213" y="0"/>
                    </a:lnTo>
                    <a:lnTo>
                      <a:pt x="1319213" y="119329"/>
                    </a:lnTo>
                    <a:lnTo>
                      <a:pt x="0" y="119329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319213" cy="1669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3"/>
                  </a:lnSpc>
                </a:pPr>
              </a:p>
            </p:txBody>
          </p:sp>
        </p:grpSp>
      </p:grpSp>
      <p:sp>
        <p:nvSpPr>
          <p:cNvPr name="TextBox 45" id="45"/>
          <p:cNvSpPr txBox="true"/>
          <p:nvPr/>
        </p:nvSpPr>
        <p:spPr>
          <a:xfrm rot="0">
            <a:off x="100060" y="9564489"/>
            <a:ext cx="6173976" cy="72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HUỲNH LÊ NGỌC TRINH-DA23TTB-110123058</a:t>
            </a:r>
          </a:p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﻿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733037" y="9625885"/>
            <a:ext cx="1232815" cy="58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>
                <a:solidFill>
                  <a:srgbClr val="00366B"/>
                </a:solidFill>
                <a:latin typeface="Noto Sans"/>
                <a:ea typeface="Noto Sans"/>
                <a:cs typeface="Noto Sans"/>
                <a:sym typeface="Noto Sans"/>
              </a:rPr>
              <a:t>02/15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34103" y="2149005"/>
            <a:ext cx="5660569" cy="1130343"/>
            <a:chOff x="0" y="0"/>
            <a:chExt cx="2775945" cy="554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5945" cy="554320"/>
            </a:xfrm>
            <a:custGeom>
              <a:avLst/>
              <a:gdLst/>
              <a:ahLst/>
              <a:cxnLst/>
              <a:rect r="r" b="b" t="t" l="l"/>
              <a:pathLst>
                <a:path h="55432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510554"/>
                  </a:lnTo>
                  <a:cubicBezTo>
                    <a:pt x="2775945" y="534726"/>
                    <a:pt x="2756350" y="554320"/>
                    <a:pt x="2732179" y="554320"/>
                  </a:cubicBezTo>
                  <a:lnTo>
                    <a:pt x="43766" y="554320"/>
                  </a:lnTo>
                  <a:cubicBezTo>
                    <a:pt x="19595" y="554320"/>
                    <a:pt x="0" y="534726"/>
                    <a:pt x="0" y="51055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FFC2C2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75945" cy="60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87830" y="4473575"/>
            <a:ext cx="72455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77991" y="2872969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8193" y="7689536"/>
            <a:ext cx="99843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87909" y="5260590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1827" y="927244"/>
            <a:ext cx="8576463" cy="76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9"/>
              </a:lnSpc>
            </a:pPr>
            <a:r>
              <a:rPr lang="en-US" b="true" sz="5499">
                <a:solidFill>
                  <a:srgbClr val="05348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I. </a:t>
            </a:r>
            <a:r>
              <a:rPr lang="en-US" b="true" sz="5499">
                <a:solidFill>
                  <a:srgbClr val="05348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Tổng quan về đề tài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38534" y="2374122"/>
            <a:ext cx="5064635" cy="61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Mục tiêu nghiên cứu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377911" y="115049"/>
            <a:ext cx="4326325" cy="711281"/>
            <a:chOff x="0" y="0"/>
            <a:chExt cx="5768433" cy="94837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48374" cy="94837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035145" y="40601"/>
              <a:ext cx="4166945" cy="838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2"/>
                </a:lnSpc>
              </a:pPr>
              <a:r>
                <a:rPr lang="en-US" sz="1574" b="true">
                  <a:solidFill>
                    <a:srgbClr val="05348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ĐẠI HỌC TRÀ VINH</a:t>
              </a:r>
            </a:p>
            <a:p>
              <a:pPr algn="l">
                <a:lnSpc>
                  <a:spcPts val="1585"/>
                </a:lnSpc>
              </a:pPr>
              <a:r>
                <a:rPr lang="en-US" sz="1148" b="true">
                  <a:solidFill>
                    <a:srgbClr val="053BA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KỸ THUẬT VÀ CÔNG NGHỆ</a:t>
              </a:r>
            </a:p>
            <a:p>
              <a:pPr algn="l">
                <a:lnSpc>
                  <a:spcPts val="1291"/>
                </a:lnSpc>
              </a:pPr>
              <a:r>
                <a:rPr lang="en-US" sz="935" b="true">
                  <a:solidFill>
                    <a:srgbClr val="0047C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KHOA CÔNG NGHỆ THÔNG TIN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4802286" y="0"/>
              <a:ext cx="966147" cy="948374"/>
            </a:xfrm>
            <a:custGeom>
              <a:avLst/>
              <a:gdLst/>
              <a:ahLst/>
              <a:cxnLst/>
              <a:rect r="r" b="b" t="t" l="l"/>
              <a:pathLst>
                <a:path h="948374" w="966147">
                  <a:moveTo>
                    <a:pt x="0" y="0"/>
                  </a:moveTo>
                  <a:lnTo>
                    <a:pt x="966147" y="0"/>
                  </a:lnTo>
                  <a:lnTo>
                    <a:pt x="966147" y="948374"/>
                  </a:lnTo>
                  <a:lnTo>
                    <a:pt x="0" y="948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07652" t="-5236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765098" y="3295244"/>
            <a:ext cx="12757804" cy="3933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85192" indent="-442596" lvl="1">
              <a:lnSpc>
                <a:spcPts val="7995"/>
              </a:lnSpc>
              <a:buFont typeface="Arial"/>
              <a:buChar char="•"/>
            </a:pPr>
            <a:r>
              <a:rPr lang="en-US" sz="4100">
                <a:solidFill>
                  <a:srgbClr val="062F7A"/>
                </a:solidFill>
                <a:latin typeface="Canva Sans"/>
                <a:ea typeface="Canva Sans"/>
                <a:cs typeface="Canva Sans"/>
                <a:sym typeface="Canva Sans"/>
              </a:rPr>
              <a:t>Thiết kế giao diện website nghe nhạc hiện đại, thân thiện</a:t>
            </a:r>
          </a:p>
          <a:p>
            <a:pPr algn="just" marL="885192" indent="-442596" lvl="1">
              <a:lnSpc>
                <a:spcPts val="7995"/>
              </a:lnSpc>
              <a:buFont typeface="Arial"/>
              <a:buChar char="•"/>
            </a:pPr>
            <a:r>
              <a:rPr lang="en-US" sz="4100">
                <a:solidFill>
                  <a:srgbClr val="062F7A"/>
                </a:solidFill>
                <a:latin typeface="Canva Sans"/>
                <a:ea typeface="Canva Sans"/>
                <a:cs typeface="Canva Sans"/>
                <a:sym typeface="Canva Sans"/>
              </a:rPr>
              <a:t>Thực hiện đầy đủ các chức năng cơ bản</a:t>
            </a:r>
          </a:p>
          <a:p>
            <a:pPr algn="just" marL="885192" indent="-442596" lvl="1">
              <a:lnSpc>
                <a:spcPts val="7995"/>
              </a:lnSpc>
              <a:buFont typeface="Arial"/>
              <a:buChar char="•"/>
            </a:pPr>
            <a:r>
              <a:rPr lang="en-US" sz="4100">
                <a:solidFill>
                  <a:srgbClr val="062F7A"/>
                </a:solidFill>
                <a:latin typeface="Canva Sans"/>
                <a:ea typeface="Canva Sans"/>
                <a:cs typeface="Canva Sans"/>
                <a:sym typeface="Canva Sans"/>
              </a:rPr>
              <a:t>Tối ưu trải nghiệm người dùng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9016145"/>
            <a:ext cx="18288000" cy="484309"/>
            <a:chOff x="0" y="0"/>
            <a:chExt cx="24384000" cy="64574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7895079" y="0"/>
              <a:ext cx="1786582" cy="645746"/>
              <a:chOff x="0" y="0"/>
              <a:chExt cx="1157227" cy="4182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8051565" y="0"/>
              <a:ext cx="1786582" cy="645746"/>
              <a:chOff x="0" y="0"/>
              <a:chExt cx="1157227" cy="4182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6581240" y="0"/>
              <a:ext cx="1786582" cy="645746"/>
              <a:chOff x="0" y="0"/>
              <a:chExt cx="1157227" cy="4182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0D14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8525391" y="0"/>
              <a:ext cx="1786582" cy="645746"/>
              <a:chOff x="0" y="0"/>
              <a:chExt cx="1157227" cy="41827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9838147" y="0"/>
              <a:ext cx="4545853" cy="645746"/>
              <a:chOff x="0" y="0"/>
              <a:chExt cx="842430" cy="11966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42430" cy="119669"/>
              </a:xfrm>
              <a:custGeom>
                <a:avLst/>
                <a:gdLst/>
                <a:ahLst/>
                <a:cxnLst/>
                <a:rect r="r" b="b" t="t" l="l"/>
                <a:pathLst>
                  <a:path h="119669" w="842430">
                    <a:moveTo>
                      <a:pt x="0" y="0"/>
                    </a:moveTo>
                    <a:lnTo>
                      <a:pt x="842430" y="0"/>
                    </a:lnTo>
                    <a:lnTo>
                      <a:pt x="842430" y="119669"/>
                    </a:lnTo>
                    <a:lnTo>
                      <a:pt x="0" y="119669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842430" cy="148244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6401017" y="0"/>
              <a:ext cx="1786582" cy="645746"/>
              <a:chOff x="0" y="0"/>
              <a:chExt cx="1157227" cy="41827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4748541" y="0"/>
              <a:ext cx="12937130" cy="645746"/>
              <a:chOff x="0" y="0"/>
              <a:chExt cx="8379798" cy="41827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379798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8379798">
                    <a:moveTo>
                      <a:pt x="203200" y="0"/>
                    </a:moveTo>
                    <a:lnTo>
                      <a:pt x="8379798" y="0"/>
                    </a:lnTo>
                    <a:lnTo>
                      <a:pt x="8176598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01600" y="-28575"/>
                <a:ext cx="8176598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sp>
          <p:nvSpPr>
            <p:cNvPr name="AutoShape 39" id="39"/>
            <p:cNvSpPr/>
            <p:nvPr/>
          </p:nvSpPr>
          <p:spPr>
            <a:xfrm flipH="true">
              <a:off x="18713632" y="316085"/>
              <a:ext cx="2886884" cy="0"/>
            </a:xfrm>
            <a:prstGeom prst="line">
              <a:avLst/>
            </a:prstGeom>
            <a:ln cap="flat" w="1357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2831711" y="65489"/>
              <a:ext cx="342715" cy="537647"/>
            </a:xfrm>
            <a:custGeom>
              <a:avLst/>
              <a:gdLst/>
              <a:ahLst/>
              <a:cxnLst/>
              <a:rect r="r" b="b" t="t" l="l"/>
              <a:pathLst>
                <a:path h="537647" w="342715">
                  <a:moveTo>
                    <a:pt x="0" y="0"/>
                  </a:moveTo>
                  <a:lnTo>
                    <a:pt x="342715" y="0"/>
                  </a:lnTo>
                  <a:lnTo>
                    <a:pt x="342715" y="537647"/>
                  </a:lnTo>
                  <a:lnTo>
                    <a:pt x="0" y="53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80636" t="-596077" r="-461893" b="-1700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21600517" y="56131"/>
              <a:ext cx="1231194" cy="538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Devotion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Transparency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Friendliness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Innovation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0" y="0"/>
              <a:ext cx="7138864" cy="645746"/>
              <a:chOff x="0" y="0"/>
              <a:chExt cx="1319213" cy="11932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319213" cy="119329"/>
              </a:xfrm>
              <a:custGeom>
                <a:avLst/>
                <a:gdLst/>
                <a:ahLst/>
                <a:cxnLst/>
                <a:rect r="r" b="b" t="t" l="l"/>
                <a:pathLst>
                  <a:path h="119329" w="1319213">
                    <a:moveTo>
                      <a:pt x="0" y="0"/>
                    </a:moveTo>
                    <a:lnTo>
                      <a:pt x="1319213" y="0"/>
                    </a:lnTo>
                    <a:lnTo>
                      <a:pt x="1319213" y="119329"/>
                    </a:lnTo>
                    <a:lnTo>
                      <a:pt x="0" y="119329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319213" cy="1669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3"/>
                  </a:lnSpc>
                </a:pPr>
              </a:p>
            </p:txBody>
          </p:sp>
        </p:grpSp>
      </p:grpSp>
      <p:sp>
        <p:nvSpPr>
          <p:cNvPr name="TextBox 45" id="45"/>
          <p:cNvSpPr txBox="true"/>
          <p:nvPr/>
        </p:nvSpPr>
        <p:spPr>
          <a:xfrm rot="0">
            <a:off x="100060" y="9564489"/>
            <a:ext cx="6173976" cy="72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HUỲNH LÊ NGỌC TRINH-DA23TTB-110123058</a:t>
            </a:r>
          </a:p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﻿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733037" y="9625885"/>
            <a:ext cx="1232815" cy="58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>
                <a:solidFill>
                  <a:srgbClr val="00366B"/>
                </a:solidFill>
                <a:latin typeface="Noto Sans"/>
                <a:ea typeface="Noto Sans"/>
                <a:cs typeface="Noto Sans"/>
                <a:sym typeface="Noto Sans"/>
              </a:rPr>
              <a:t>03/15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060" y="4028945"/>
            <a:ext cx="5241117" cy="1134335"/>
            <a:chOff x="0" y="0"/>
            <a:chExt cx="2570246" cy="5562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70246" cy="556278"/>
            </a:xfrm>
            <a:custGeom>
              <a:avLst/>
              <a:gdLst/>
              <a:ahLst/>
              <a:cxnLst/>
              <a:rect r="r" b="b" t="t" l="l"/>
              <a:pathLst>
                <a:path h="556278" w="2570246">
                  <a:moveTo>
                    <a:pt x="47269" y="0"/>
                  </a:moveTo>
                  <a:lnTo>
                    <a:pt x="2522977" y="0"/>
                  </a:lnTo>
                  <a:cubicBezTo>
                    <a:pt x="2535513" y="0"/>
                    <a:pt x="2547536" y="4980"/>
                    <a:pt x="2556401" y="13845"/>
                  </a:cubicBezTo>
                  <a:cubicBezTo>
                    <a:pt x="2565266" y="22709"/>
                    <a:pt x="2570246" y="34732"/>
                    <a:pt x="2570246" y="47269"/>
                  </a:cubicBezTo>
                  <a:lnTo>
                    <a:pt x="2570246" y="509009"/>
                  </a:lnTo>
                  <a:cubicBezTo>
                    <a:pt x="2570246" y="521546"/>
                    <a:pt x="2565266" y="533569"/>
                    <a:pt x="2556401" y="542433"/>
                  </a:cubicBezTo>
                  <a:cubicBezTo>
                    <a:pt x="2547536" y="551298"/>
                    <a:pt x="2535513" y="556278"/>
                    <a:pt x="2522977" y="556278"/>
                  </a:cubicBezTo>
                  <a:lnTo>
                    <a:pt x="47269" y="556278"/>
                  </a:lnTo>
                  <a:cubicBezTo>
                    <a:pt x="34732" y="556278"/>
                    <a:pt x="22709" y="551298"/>
                    <a:pt x="13845" y="542433"/>
                  </a:cubicBezTo>
                  <a:cubicBezTo>
                    <a:pt x="4980" y="533569"/>
                    <a:pt x="0" y="521546"/>
                    <a:pt x="0" y="509009"/>
                  </a:cubicBezTo>
                  <a:lnTo>
                    <a:pt x="0" y="47269"/>
                  </a:lnTo>
                  <a:cubicBezTo>
                    <a:pt x="0" y="34732"/>
                    <a:pt x="4980" y="22709"/>
                    <a:pt x="13845" y="13845"/>
                  </a:cubicBezTo>
                  <a:cubicBezTo>
                    <a:pt x="22709" y="4980"/>
                    <a:pt x="34732" y="0"/>
                    <a:pt x="47269" y="0"/>
                  </a:cubicBezTo>
                  <a:close/>
                </a:path>
              </a:pathLst>
            </a:custGeom>
            <a:solidFill>
              <a:srgbClr val="FFE7C2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70246" cy="603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77911" y="115049"/>
            <a:ext cx="4326325" cy="711281"/>
            <a:chOff x="0" y="0"/>
            <a:chExt cx="5768433" cy="94837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48374" cy="94837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1035145" y="40601"/>
              <a:ext cx="4166945" cy="838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2"/>
                </a:lnSpc>
              </a:pPr>
              <a:r>
                <a:rPr lang="en-US" sz="1574" b="true">
                  <a:solidFill>
                    <a:srgbClr val="05348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ĐẠI HỌC TRÀ VINH</a:t>
              </a:r>
            </a:p>
            <a:p>
              <a:pPr algn="l">
                <a:lnSpc>
                  <a:spcPts val="1585"/>
                </a:lnSpc>
              </a:pPr>
              <a:r>
                <a:rPr lang="en-US" sz="1148" b="true">
                  <a:solidFill>
                    <a:srgbClr val="053BA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KỸ THUẬT VÀ CÔNG NGHỆ</a:t>
              </a:r>
            </a:p>
            <a:p>
              <a:pPr algn="l">
                <a:lnSpc>
                  <a:spcPts val="1291"/>
                </a:lnSpc>
              </a:pPr>
              <a:r>
                <a:rPr lang="en-US" sz="935" b="true">
                  <a:solidFill>
                    <a:srgbClr val="0047C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KHOA CÔNG NGHỆ THÔNG TIN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4802286" y="0"/>
              <a:ext cx="966147" cy="948374"/>
            </a:xfrm>
            <a:custGeom>
              <a:avLst/>
              <a:gdLst/>
              <a:ahLst/>
              <a:cxnLst/>
              <a:rect r="r" b="b" t="t" l="l"/>
              <a:pathLst>
                <a:path h="948374" w="966147">
                  <a:moveTo>
                    <a:pt x="0" y="0"/>
                  </a:moveTo>
                  <a:lnTo>
                    <a:pt x="966147" y="0"/>
                  </a:lnTo>
                  <a:lnTo>
                    <a:pt x="966147" y="948374"/>
                  </a:lnTo>
                  <a:lnTo>
                    <a:pt x="0" y="948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07652" t="-5236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016145"/>
            <a:ext cx="18288000" cy="484309"/>
            <a:chOff x="0" y="0"/>
            <a:chExt cx="24384000" cy="64574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17895079" y="0"/>
              <a:ext cx="1786582" cy="645746"/>
              <a:chOff x="0" y="0"/>
              <a:chExt cx="1157227" cy="4182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8051565" y="0"/>
              <a:ext cx="1786582" cy="645746"/>
              <a:chOff x="0" y="0"/>
              <a:chExt cx="1157227" cy="4182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6581240" y="0"/>
              <a:ext cx="1786582" cy="645746"/>
              <a:chOff x="0" y="0"/>
              <a:chExt cx="1157227" cy="41827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0D14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8525391" y="0"/>
              <a:ext cx="1786582" cy="645746"/>
              <a:chOff x="0" y="0"/>
              <a:chExt cx="1157227" cy="41827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9838147" y="0"/>
              <a:ext cx="4545853" cy="645746"/>
              <a:chOff x="0" y="0"/>
              <a:chExt cx="842430" cy="11966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42430" cy="119669"/>
              </a:xfrm>
              <a:custGeom>
                <a:avLst/>
                <a:gdLst/>
                <a:ahLst/>
                <a:cxnLst/>
                <a:rect r="r" b="b" t="t" l="l"/>
                <a:pathLst>
                  <a:path h="119669" w="842430">
                    <a:moveTo>
                      <a:pt x="0" y="0"/>
                    </a:moveTo>
                    <a:lnTo>
                      <a:pt x="842430" y="0"/>
                    </a:lnTo>
                    <a:lnTo>
                      <a:pt x="842430" y="119669"/>
                    </a:lnTo>
                    <a:lnTo>
                      <a:pt x="0" y="119669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842430" cy="148244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6401017" y="0"/>
              <a:ext cx="1786582" cy="645746"/>
              <a:chOff x="0" y="0"/>
              <a:chExt cx="1157227" cy="41827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748541" y="0"/>
              <a:ext cx="12937130" cy="645746"/>
              <a:chOff x="0" y="0"/>
              <a:chExt cx="8379798" cy="41827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379798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8379798">
                    <a:moveTo>
                      <a:pt x="203200" y="0"/>
                    </a:moveTo>
                    <a:lnTo>
                      <a:pt x="8379798" y="0"/>
                    </a:lnTo>
                    <a:lnTo>
                      <a:pt x="8176598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01600" y="-28575"/>
                <a:ext cx="8176598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sp>
          <p:nvSpPr>
            <p:cNvPr name="AutoShape 32" id="32"/>
            <p:cNvSpPr/>
            <p:nvPr/>
          </p:nvSpPr>
          <p:spPr>
            <a:xfrm flipH="true">
              <a:off x="18713632" y="316085"/>
              <a:ext cx="2886884" cy="0"/>
            </a:xfrm>
            <a:prstGeom prst="line">
              <a:avLst/>
            </a:prstGeom>
            <a:ln cap="flat" w="1357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2831711" y="65489"/>
              <a:ext cx="342715" cy="537647"/>
            </a:xfrm>
            <a:custGeom>
              <a:avLst/>
              <a:gdLst/>
              <a:ahLst/>
              <a:cxnLst/>
              <a:rect r="r" b="b" t="t" l="l"/>
              <a:pathLst>
                <a:path h="537647" w="342715">
                  <a:moveTo>
                    <a:pt x="0" y="0"/>
                  </a:moveTo>
                  <a:lnTo>
                    <a:pt x="342715" y="0"/>
                  </a:lnTo>
                  <a:lnTo>
                    <a:pt x="342715" y="537647"/>
                  </a:lnTo>
                  <a:lnTo>
                    <a:pt x="0" y="53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80636" t="-596077" r="-461893" b="-170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21600517" y="56131"/>
              <a:ext cx="1231194" cy="538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Devotion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Transparency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Friendliness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Innovation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0"/>
              <a:ext cx="7138864" cy="645746"/>
              <a:chOff x="0" y="0"/>
              <a:chExt cx="1319213" cy="1193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319213" cy="119329"/>
              </a:xfrm>
              <a:custGeom>
                <a:avLst/>
                <a:gdLst/>
                <a:ahLst/>
                <a:cxnLst/>
                <a:rect r="r" b="b" t="t" l="l"/>
                <a:pathLst>
                  <a:path h="119329" w="1319213">
                    <a:moveTo>
                      <a:pt x="0" y="0"/>
                    </a:moveTo>
                    <a:lnTo>
                      <a:pt x="1319213" y="0"/>
                    </a:lnTo>
                    <a:lnTo>
                      <a:pt x="1319213" y="119329"/>
                    </a:lnTo>
                    <a:lnTo>
                      <a:pt x="0" y="119329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1319213" cy="1669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3"/>
                  </a:lnSpc>
                </a:pPr>
              </a:p>
            </p:txBody>
          </p:sp>
        </p:grpSp>
      </p:grpSp>
      <p:sp>
        <p:nvSpPr>
          <p:cNvPr name="TextBox 38" id="38"/>
          <p:cNvSpPr txBox="true"/>
          <p:nvPr/>
        </p:nvSpPr>
        <p:spPr>
          <a:xfrm rot="0">
            <a:off x="9328872" y="2888101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58193" y="7689536"/>
            <a:ext cx="99843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39891" y="5344244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67537" y="893005"/>
            <a:ext cx="8576463" cy="76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9"/>
              </a:lnSpc>
            </a:pPr>
            <a:r>
              <a:rPr lang="en-US" b="true" sz="5499">
                <a:solidFill>
                  <a:srgbClr val="05348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I.</a:t>
            </a:r>
            <a:r>
              <a:rPr lang="en-US" b="true" sz="5499">
                <a:solidFill>
                  <a:srgbClr val="05348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Tổng quan về đề tài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76543" y="4236594"/>
            <a:ext cx="5064635" cy="61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Công nghệ sử dụng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060" y="9564489"/>
            <a:ext cx="6173976" cy="72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HUỲNH LÊ NGỌC TRINH-DA23TTB-110123058</a:t>
            </a:r>
          </a:p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﻿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733037" y="9625885"/>
            <a:ext cx="1232815" cy="58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>
                <a:solidFill>
                  <a:srgbClr val="00366B"/>
                </a:solidFill>
                <a:latin typeface="Noto Sans"/>
                <a:ea typeface="Noto Sans"/>
                <a:cs typeface="Noto Sans"/>
                <a:sym typeface="Noto Sans"/>
              </a:rPr>
              <a:t>04/15</a:t>
            </a:r>
          </a:p>
        </p:txBody>
      </p:sp>
      <p:sp>
        <p:nvSpPr>
          <p:cNvPr name="AutoShape 45" id="45"/>
          <p:cNvSpPr/>
          <p:nvPr/>
        </p:nvSpPr>
        <p:spPr>
          <a:xfrm flipV="true">
            <a:off x="5341178" y="2098790"/>
            <a:ext cx="3987695" cy="24973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6" id="46"/>
          <p:cNvSpPr/>
          <p:nvPr/>
        </p:nvSpPr>
        <p:spPr>
          <a:xfrm flipV="true">
            <a:off x="5341178" y="3216477"/>
            <a:ext cx="3824628" cy="13796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>
            <a:off x="5341178" y="4596113"/>
            <a:ext cx="3753839" cy="535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8" id="48"/>
          <p:cNvSpPr/>
          <p:nvPr/>
        </p:nvSpPr>
        <p:spPr>
          <a:xfrm>
            <a:off x="5341178" y="4596113"/>
            <a:ext cx="3744164" cy="13761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>
            <a:off x="5341178" y="4596113"/>
            <a:ext cx="3871206" cy="28565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0" id="50"/>
          <p:cNvGrpSpPr/>
          <p:nvPr/>
        </p:nvGrpSpPr>
        <p:grpSpPr>
          <a:xfrm rot="0">
            <a:off x="9328872" y="1827326"/>
            <a:ext cx="6156302" cy="970490"/>
            <a:chOff x="0" y="0"/>
            <a:chExt cx="8208403" cy="1293987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0" y="658715"/>
              <a:ext cx="8208403" cy="635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</a:pPr>
              <a:r>
                <a:rPr lang="en-US" sz="28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Xây dựng cấu trúc trang web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-66675"/>
              <a:ext cx="1894175" cy="773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25"/>
                </a:lnSpc>
              </a:pPr>
              <a:r>
                <a:rPr lang="en-US" b="true" sz="3518">
                  <a:solidFill>
                    <a:srgbClr val="1C1C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HTML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28872" y="2954776"/>
            <a:ext cx="7753260" cy="1074169"/>
            <a:chOff x="0" y="0"/>
            <a:chExt cx="10337680" cy="1432226"/>
          </a:xfrm>
        </p:grpSpPr>
        <p:sp>
          <p:nvSpPr>
            <p:cNvPr name="TextBox 54" id="54"/>
            <p:cNvSpPr txBox="true"/>
            <p:nvPr/>
          </p:nvSpPr>
          <p:spPr>
            <a:xfrm rot="0">
              <a:off x="0" y="796954"/>
              <a:ext cx="10337680" cy="635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</a:pPr>
              <a:r>
                <a:rPr lang="en-US" sz="28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Thiết kế giao diện, bố cục và hiệu ứng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0" y="-57150"/>
              <a:ext cx="7620000" cy="71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5"/>
                </a:lnSpc>
              </a:pPr>
              <a:r>
                <a:rPr lang="en-US" b="true" sz="3218">
                  <a:solidFill>
                    <a:srgbClr val="1C1C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CSS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65806" y="4346007"/>
            <a:ext cx="8538431" cy="1008041"/>
            <a:chOff x="0" y="0"/>
            <a:chExt cx="11384574" cy="1344055"/>
          </a:xfrm>
        </p:grpSpPr>
        <p:sp>
          <p:nvSpPr>
            <p:cNvPr name="TextBox 57" id="57"/>
            <p:cNvSpPr txBox="true"/>
            <p:nvPr/>
          </p:nvSpPr>
          <p:spPr>
            <a:xfrm rot="0">
              <a:off x="0" y="806479"/>
              <a:ext cx="11384574" cy="537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Xử lý tương tác và chức năng phía người dùng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0" y="-57150"/>
              <a:ext cx="7620000" cy="71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5"/>
                </a:lnSpc>
              </a:pPr>
              <a:r>
                <a:rPr lang="en-US" b="true" sz="3218">
                  <a:solidFill>
                    <a:srgbClr val="1C1C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Javascript 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085342" y="5668373"/>
            <a:ext cx="6455732" cy="1302463"/>
            <a:chOff x="0" y="0"/>
            <a:chExt cx="8607642" cy="1736617"/>
          </a:xfrm>
        </p:grpSpPr>
        <p:sp>
          <p:nvSpPr>
            <p:cNvPr name="TextBox 60" id="60"/>
            <p:cNvSpPr txBox="true"/>
            <p:nvPr/>
          </p:nvSpPr>
          <p:spPr>
            <a:xfrm rot="0">
              <a:off x="0" y="614900"/>
              <a:ext cx="8607642" cy="112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Xây dựng giao diện người dùng theo mô hình component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0" y="-57150"/>
              <a:ext cx="5761325" cy="71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5"/>
                </a:lnSpc>
              </a:pPr>
              <a:r>
                <a:rPr lang="en-US" b="true" sz="3218">
                  <a:solidFill>
                    <a:srgbClr val="1C1C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ReactJS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132536" y="7193479"/>
            <a:ext cx="8571701" cy="864357"/>
            <a:chOff x="0" y="0"/>
            <a:chExt cx="11428934" cy="1152476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614900"/>
              <a:ext cx="11428934" cy="537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Giúp khởi chạy dự án nhanh và tối ưu quá trình build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0" y="-57150"/>
              <a:ext cx="7649691" cy="710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5"/>
                </a:lnSpc>
              </a:pPr>
              <a:r>
                <a:rPr lang="en-US" b="true" sz="3218">
                  <a:solidFill>
                    <a:srgbClr val="1C1C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Vite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77911" y="115049"/>
            <a:ext cx="4326325" cy="711281"/>
            <a:chOff x="0" y="0"/>
            <a:chExt cx="5768433" cy="94837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48374" cy="94837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1035145" y="40601"/>
              <a:ext cx="4166945" cy="838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2"/>
                </a:lnSpc>
              </a:pPr>
              <a:r>
                <a:rPr lang="en-US" sz="1574" b="true">
                  <a:solidFill>
                    <a:srgbClr val="05348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ĐẠI HỌC TRÀ VINH</a:t>
              </a:r>
            </a:p>
            <a:p>
              <a:pPr algn="l">
                <a:lnSpc>
                  <a:spcPts val="1585"/>
                </a:lnSpc>
              </a:pPr>
              <a:r>
                <a:rPr lang="en-US" sz="1148" b="true">
                  <a:solidFill>
                    <a:srgbClr val="053BA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KỸ THUẬT VÀ CÔNG NGHỆ</a:t>
              </a:r>
            </a:p>
            <a:p>
              <a:pPr algn="l">
                <a:lnSpc>
                  <a:spcPts val="1291"/>
                </a:lnSpc>
              </a:pPr>
              <a:r>
                <a:rPr lang="en-US" sz="935" b="true">
                  <a:solidFill>
                    <a:srgbClr val="0047C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KHOA CÔNG NGHỆ THÔNG TIN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4802286" y="0"/>
              <a:ext cx="966147" cy="948374"/>
            </a:xfrm>
            <a:custGeom>
              <a:avLst/>
              <a:gdLst/>
              <a:ahLst/>
              <a:cxnLst/>
              <a:rect r="r" b="b" t="t" l="l"/>
              <a:pathLst>
                <a:path h="948374" w="966147">
                  <a:moveTo>
                    <a:pt x="0" y="0"/>
                  </a:moveTo>
                  <a:lnTo>
                    <a:pt x="966147" y="0"/>
                  </a:lnTo>
                  <a:lnTo>
                    <a:pt x="966147" y="948374"/>
                  </a:lnTo>
                  <a:lnTo>
                    <a:pt x="0" y="948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07652" t="-5236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9016145"/>
            <a:ext cx="18288000" cy="484309"/>
            <a:chOff x="0" y="0"/>
            <a:chExt cx="24384000" cy="64574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7895079" y="0"/>
              <a:ext cx="1786582" cy="645746"/>
              <a:chOff x="0" y="0"/>
              <a:chExt cx="1157227" cy="4182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8051565" y="0"/>
              <a:ext cx="1786582" cy="645746"/>
              <a:chOff x="0" y="0"/>
              <a:chExt cx="1157227" cy="4182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6581240" y="0"/>
              <a:ext cx="1786582" cy="645746"/>
              <a:chOff x="0" y="0"/>
              <a:chExt cx="1157227" cy="4182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0D14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8525391" y="0"/>
              <a:ext cx="1786582" cy="645746"/>
              <a:chOff x="0" y="0"/>
              <a:chExt cx="1157227" cy="41827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9838147" y="0"/>
              <a:ext cx="4545853" cy="645746"/>
              <a:chOff x="0" y="0"/>
              <a:chExt cx="842430" cy="11966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42430" cy="119669"/>
              </a:xfrm>
              <a:custGeom>
                <a:avLst/>
                <a:gdLst/>
                <a:ahLst/>
                <a:cxnLst/>
                <a:rect r="r" b="b" t="t" l="l"/>
                <a:pathLst>
                  <a:path h="119669" w="842430">
                    <a:moveTo>
                      <a:pt x="0" y="0"/>
                    </a:moveTo>
                    <a:lnTo>
                      <a:pt x="842430" y="0"/>
                    </a:lnTo>
                    <a:lnTo>
                      <a:pt x="842430" y="119669"/>
                    </a:lnTo>
                    <a:lnTo>
                      <a:pt x="0" y="119669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842430" cy="148244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6401017" y="0"/>
              <a:ext cx="1786582" cy="645746"/>
              <a:chOff x="0" y="0"/>
              <a:chExt cx="1157227" cy="41827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4748541" y="0"/>
              <a:ext cx="12937130" cy="645746"/>
              <a:chOff x="0" y="0"/>
              <a:chExt cx="8379798" cy="41827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379798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8379798">
                    <a:moveTo>
                      <a:pt x="203200" y="0"/>
                    </a:moveTo>
                    <a:lnTo>
                      <a:pt x="8379798" y="0"/>
                    </a:lnTo>
                    <a:lnTo>
                      <a:pt x="8176598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28575"/>
                <a:ext cx="8176598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sp>
          <p:nvSpPr>
            <p:cNvPr name="AutoShape 29" id="29"/>
            <p:cNvSpPr/>
            <p:nvPr/>
          </p:nvSpPr>
          <p:spPr>
            <a:xfrm flipH="true">
              <a:off x="18713632" y="316085"/>
              <a:ext cx="2886884" cy="0"/>
            </a:xfrm>
            <a:prstGeom prst="line">
              <a:avLst/>
            </a:prstGeom>
            <a:ln cap="flat" w="1357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2831711" y="65489"/>
              <a:ext cx="342715" cy="537647"/>
            </a:xfrm>
            <a:custGeom>
              <a:avLst/>
              <a:gdLst/>
              <a:ahLst/>
              <a:cxnLst/>
              <a:rect r="r" b="b" t="t" l="l"/>
              <a:pathLst>
                <a:path h="537647" w="342715">
                  <a:moveTo>
                    <a:pt x="0" y="0"/>
                  </a:moveTo>
                  <a:lnTo>
                    <a:pt x="342715" y="0"/>
                  </a:lnTo>
                  <a:lnTo>
                    <a:pt x="342715" y="537647"/>
                  </a:lnTo>
                  <a:lnTo>
                    <a:pt x="0" y="53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80636" t="-596077" r="-461893" b="-170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21600517" y="56131"/>
              <a:ext cx="1231194" cy="538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Devotion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Transparency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Friendliness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Innovation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0" y="0"/>
              <a:ext cx="7138864" cy="645746"/>
              <a:chOff x="0" y="0"/>
              <a:chExt cx="1319213" cy="119329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319213" cy="119329"/>
              </a:xfrm>
              <a:custGeom>
                <a:avLst/>
                <a:gdLst/>
                <a:ahLst/>
                <a:cxnLst/>
                <a:rect r="r" b="b" t="t" l="l"/>
                <a:pathLst>
                  <a:path h="119329" w="1319213">
                    <a:moveTo>
                      <a:pt x="0" y="0"/>
                    </a:moveTo>
                    <a:lnTo>
                      <a:pt x="1319213" y="0"/>
                    </a:lnTo>
                    <a:lnTo>
                      <a:pt x="1319213" y="119329"/>
                    </a:lnTo>
                    <a:lnTo>
                      <a:pt x="0" y="119329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1319213" cy="1669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3"/>
                  </a:lnSpc>
                </a:pPr>
              </a:p>
            </p:txBody>
          </p:sp>
        </p:grpSp>
      </p:grpSp>
      <p:sp>
        <p:nvSpPr>
          <p:cNvPr name="TextBox 35" id="35"/>
          <p:cNvSpPr txBox="true"/>
          <p:nvPr/>
        </p:nvSpPr>
        <p:spPr>
          <a:xfrm rot="0">
            <a:off x="3687830" y="4473575"/>
            <a:ext cx="72455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77991" y="2872969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8193" y="7689536"/>
            <a:ext cx="99843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87909" y="5260590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3615" y="1095375"/>
            <a:ext cx="9427076" cy="76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9"/>
              </a:lnSpc>
            </a:pPr>
            <a:r>
              <a:rPr lang="en-US" b="true" sz="5499">
                <a:solidFill>
                  <a:srgbClr val="05348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II. Nội dung nghiên cứu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060" y="9564489"/>
            <a:ext cx="6173976" cy="72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HUỲNH LÊ NGỌC TRINH-DA23TTB-110123058</a:t>
            </a:r>
          </a:p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﻿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733037" y="9625885"/>
            <a:ext cx="1232815" cy="58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>
                <a:solidFill>
                  <a:srgbClr val="00366B"/>
                </a:solidFill>
                <a:latin typeface="Noto Sans"/>
                <a:ea typeface="Noto Sans"/>
                <a:cs typeface="Noto Sans"/>
                <a:sym typeface="Noto Sans"/>
              </a:rPr>
              <a:t>05/15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8154" y="2155732"/>
            <a:ext cx="16350958" cy="49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85192" indent="-442596" lvl="1">
              <a:lnSpc>
                <a:spcPts val="7995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Tìm hiểu ReactJS và Vite trong phát triển Front-end</a:t>
            </a:r>
          </a:p>
          <a:p>
            <a:pPr algn="just" marL="885192" indent="-442596" lvl="1">
              <a:lnSpc>
                <a:spcPts val="7995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Khảo sát, phân tích website nghe nhạc phổ biến</a:t>
            </a:r>
          </a:p>
          <a:p>
            <a:pPr algn="just" marL="885192" indent="-442596" lvl="1">
              <a:lnSpc>
                <a:spcPts val="7995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Phân tích yêu cầu và xây dựng cấu trúc website</a:t>
            </a:r>
          </a:p>
          <a:p>
            <a:pPr algn="just" marL="885192" indent="-442596" lvl="1">
              <a:lnSpc>
                <a:spcPts val="7995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Thiết kế giao diện bằng HTML, CSS, JavaScript, ReactJS, Vite</a:t>
            </a:r>
          </a:p>
          <a:p>
            <a:pPr algn="just" marL="885192" indent="-442596" lvl="1">
              <a:lnSpc>
                <a:spcPts val="7995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Kiểm thử và hoàn thiện giao diện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77911" y="115049"/>
            <a:ext cx="4326325" cy="711281"/>
            <a:chOff x="0" y="0"/>
            <a:chExt cx="5768433" cy="94837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48374" cy="94837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1035145" y="40601"/>
              <a:ext cx="4166945" cy="838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2"/>
                </a:lnSpc>
              </a:pPr>
              <a:r>
                <a:rPr lang="en-US" sz="1574" b="true">
                  <a:solidFill>
                    <a:srgbClr val="05348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ĐẠI HỌC TRÀ VINH</a:t>
              </a:r>
            </a:p>
            <a:p>
              <a:pPr algn="l">
                <a:lnSpc>
                  <a:spcPts val="1585"/>
                </a:lnSpc>
              </a:pPr>
              <a:r>
                <a:rPr lang="en-US" sz="1148" b="true">
                  <a:solidFill>
                    <a:srgbClr val="053BA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TRƯỜNG KỸ THUẬT VÀ CÔNG NGHỆ</a:t>
              </a:r>
            </a:p>
            <a:p>
              <a:pPr algn="l">
                <a:lnSpc>
                  <a:spcPts val="1291"/>
                </a:lnSpc>
              </a:pPr>
              <a:r>
                <a:rPr lang="en-US" sz="935" b="true">
                  <a:solidFill>
                    <a:srgbClr val="0047C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KHOA CÔNG NGHỆ THÔNG TIN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4802286" y="0"/>
              <a:ext cx="966147" cy="948374"/>
            </a:xfrm>
            <a:custGeom>
              <a:avLst/>
              <a:gdLst/>
              <a:ahLst/>
              <a:cxnLst/>
              <a:rect r="r" b="b" t="t" l="l"/>
              <a:pathLst>
                <a:path h="948374" w="966147">
                  <a:moveTo>
                    <a:pt x="0" y="0"/>
                  </a:moveTo>
                  <a:lnTo>
                    <a:pt x="966147" y="0"/>
                  </a:lnTo>
                  <a:lnTo>
                    <a:pt x="966147" y="948374"/>
                  </a:lnTo>
                  <a:lnTo>
                    <a:pt x="0" y="948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07652" t="-5236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9016145"/>
            <a:ext cx="18288000" cy="484309"/>
            <a:chOff x="0" y="0"/>
            <a:chExt cx="24384000" cy="64574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7895079" y="0"/>
              <a:ext cx="1786582" cy="645746"/>
              <a:chOff x="0" y="0"/>
              <a:chExt cx="1157227" cy="4182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8051565" y="0"/>
              <a:ext cx="1786582" cy="645746"/>
              <a:chOff x="0" y="0"/>
              <a:chExt cx="1157227" cy="4182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6581240" y="0"/>
              <a:ext cx="1786582" cy="645746"/>
              <a:chOff x="0" y="0"/>
              <a:chExt cx="1157227" cy="4182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0D14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8525391" y="0"/>
              <a:ext cx="1786582" cy="645746"/>
              <a:chOff x="0" y="0"/>
              <a:chExt cx="1157227" cy="41827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9838147" y="0"/>
              <a:ext cx="4545853" cy="645746"/>
              <a:chOff x="0" y="0"/>
              <a:chExt cx="842430" cy="11966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42430" cy="119669"/>
              </a:xfrm>
              <a:custGeom>
                <a:avLst/>
                <a:gdLst/>
                <a:ahLst/>
                <a:cxnLst/>
                <a:rect r="r" b="b" t="t" l="l"/>
                <a:pathLst>
                  <a:path h="119669" w="842430">
                    <a:moveTo>
                      <a:pt x="0" y="0"/>
                    </a:moveTo>
                    <a:lnTo>
                      <a:pt x="842430" y="0"/>
                    </a:lnTo>
                    <a:lnTo>
                      <a:pt x="842430" y="119669"/>
                    </a:lnTo>
                    <a:lnTo>
                      <a:pt x="0" y="119669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842430" cy="148244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6401017" y="0"/>
              <a:ext cx="1786582" cy="645746"/>
              <a:chOff x="0" y="0"/>
              <a:chExt cx="1157227" cy="41827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157227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57227">
                    <a:moveTo>
                      <a:pt x="203200" y="0"/>
                    </a:moveTo>
                    <a:lnTo>
                      <a:pt x="1157227" y="0"/>
                    </a:lnTo>
                    <a:lnTo>
                      <a:pt x="954027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01600" y="-28575"/>
                <a:ext cx="954027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4748541" y="0"/>
              <a:ext cx="12937130" cy="645746"/>
              <a:chOff x="0" y="0"/>
              <a:chExt cx="8379798" cy="41827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379798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8379798">
                    <a:moveTo>
                      <a:pt x="203200" y="0"/>
                    </a:moveTo>
                    <a:lnTo>
                      <a:pt x="8379798" y="0"/>
                    </a:lnTo>
                    <a:lnTo>
                      <a:pt x="8176598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28575"/>
                <a:ext cx="8176598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sp>
          <p:nvSpPr>
            <p:cNvPr name="AutoShape 29" id="29"/>
            <p:cNvSpPr/>
            <p:nvPr/>
          </p:nvSpPr>
          <p:spPr>
            <a:xfrm flipH="true">
              <a:off x="18713632" y="316085"/>
              <a:ext cx="2886884" cy="0"/>
            </a:xfrm>
            <a:prstGeom prst="line">
              <a:avLst/>
            </a:prstGeom>
            <a:ln cap="flat" w="1357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2831711" y="65489"/>
              <a:ext cx="342715" cy="537647"/>
            </a:xfrm>
            <a:custGeom>
              <a:avLst/>
              <a:gdLst/>
              <a:ahLst/>
              <a:cxnLst/>
              <a:rect r="r" b="b" t="t" l="l"/>
              <a:pathLst>
                <a:path h="537647" w="342715">
                  <a:moveTo>
                    <a:pt x="0" y="0"/>
                  </a:moveTo>
                  <a:lnTo>
                    <a:pt x="342715" y="0"/>
                  </a:lnTo>
                  <a:lnTo>
                    <a:pt x="342715" y="537647"/>
                  </a:lnTo>
                  <a:lnTo>
                    <a:pt x="0" y="53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80636" t="-596077" r="-461893" b="-170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21600517" y="56131"/>
              <a:ext cx="1231194" cy="538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Devotion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Transparency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Friendliness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Innovation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0" y="0"/>
              <a:ext cx="7138864" cy="645746"/>
              <a:chOff x="0" y="0"/>
              <a:chExt cx="1319213" cy="119329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319213" cy="119329"/>
              </a:xfrm>
              <a:custGeom>
                <a:avLst/>
                <a:gdLst/>
                <a:ahLst/>
                <a:cxnLst/>
                <a:rect r="r" b="b" t="t" l="l"/>
                <a:pathLst>
                  <a:path h="119329" w="1319213">
                    <a:moveTo>
                      <a:pt x="0" y="0"/>
                    </a:moveTo>
                    <a:lnTo>
                      <a:pt x="1319213" y="0"/>
                    </a:lnTo>
                    <a:lnTo>
                      <a:pt x="1319213" y="119329"/>
                    </a:lnTo>
                    <a:lnTo>
                      <a:pt x="0" y="119329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1319213" cy="1669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3"/>
                  </a:lnSpc>
                </a:pPr>
              </a:p>
            </p:txBody>
          </p:sp>
        </p:grpSp>
      </p:grpSp>
      <p:sp>
        <p:nvSpPr>
          <p:cNvPr name="TextBox 35" id="35"/>
          <p:cNvSpPr txBox="true"/>
          <p:nvPr/>
        </p:nvSpPr>
        <p:spPr>
          <a:xfrm rot="0">
            <a:off x="3687830" y="4473575"/>
            <a:ext cx="72455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77991" y="2872969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8193" y="7689536"/>
            <a:ext cx="99843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87909" y="5260590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3615" y="1095375"/>
            <a:ext cx="9427076" cy="76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9"/>
              </a:lnSpc>
            </a:pPr>
            <a:r>
              <a:rPr lang="en-US" b="true" sz="5499">
                <a:solidFill>
                  <a:srgbClr val="05348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II. Nội dung nghiên cứu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060" y="9564489"/>
            <a:ext cx="6173976" cy="72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HUỲNH LÊ NGỌC TRINH-DA23TTB-110123058</a:t>
            </a:r>
          </a:p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﻿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733037" y="9625885"/>
            <a:ext cx="1232815" cy="58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>
                <a:solidFill>
                  <a:srgbClr val="00366B"/>
                </a:solidFill>
                <a:latin typeface="Noto Sans"/>
                <a:ea typeface="Noto Sans"/>
                <a:cs typeface="Noto Sans"/>
                <a:sym typeface="Noto Sans"/>
              </a:rPr>
              <a:t>05/15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68691" y="2132431"/>
            <a:ext cx="7403066" cy="1194790"/>
            <a:chOff x="0" y="0"/>
            <a:chExt cx="1949779" cy="31467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49779" cy="314677"/>
            </a:xfrm>
            <a:custGeom>
              <a:avLst/>
              <a:gdLst/>
              <a:ahLst/>
              <a:cxnLst/>
              <a:rect r="r" b="b" t="t" l="l"/>
              <a:pathLst>
                <a:path h="314677" w="1949779">
                  <a:moveTo>
                    <a:pt x="59609" y="0"/>
                  </a:moveTo>
                  <a:lnTo>
                    <a:pt x="1890170" y="0"/>
                  </a:lnTo>
                  <a:cubicBezTo>
                    <a:pt x="1905979" y="0"/>
                    <a:pt x="1921141" y="6280"/>
                    <a:pt x="1932320" y="17459"/>
                  </a:cubicBezTo>
                  <a:cubicBezTo>
                    <a:pt x="1943498" y="28638"/>
                    <a:pt x="1949779" y="43800"/>
                    <a:pt x="1949779" y="59609"/>
                  </a:cubicBezTo>
                  <a:lnTo>
                    <a:pt x="1949779" y="255068"/>
                  </a:lnTo>
                  <a:cubicBezTo>
                    <a:pt x="1949779" y="287989"/>
                    <a:pt x="1923091" y="314677"/>
                    <a:pt x="1890170" y="314677"/>
                  </a:cubicBezTo>
                  <a:lnTo>
                    <a:pt x="59609" y="314677"/>
                  </a:lnTo>
                  <a:cubicBezTo>
                    <a:pt x="26688" y="314677"/>
                    <a:pt x="0" y="287989"/>
                    <a:pt x="0" y="255068"/>
                  </a:cubicBezTo>
                  <a:lnTo>
                    <a:pt x="0" y="59609"/>
                  </a:lnTo>
                  <a:cubicBezTo>
                    <a:pt x="0" y="26688"/>
                    <a:pt x="26688" y="0"/>
                    <a:pt x="59609" y="0"/>
                  </a:cubicBezTo>
                  <a:close/>
                </a:path>
              </a:pathLst>
            </a:custGeom>
            <a:solidFill>
              <a:srgbClr val="B5EBE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949779" cy="362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627114" y="2224928"/>
            <a:ext cx="7058462" cy="714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77"/>
              </a:lnSpc>
            </a:pPr>
            <a:r>
              <a:rPr lang="en-US" sz="32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Tìm hiểu ReactJS và công cụ Vite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1641" y="9280205"/>
            <a:ext cx="17884719" cy="484309"/>
            <a:chOff x="0" y="0"/>
            <a:chExt cx="23846292" cy="64574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7500462" y="0"/>
              <a:ext cx="1747185" cy="645746"/>
              <a:chOff x="0" y="0"/>
              <a:chExt cx="1131708" cy="41827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131708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31708">
                    <a:moveTo>
                      <a:pt x="203200" y="0"/>
                    </a:moveTo>
                    <a:lnTo>
                      <a:pt x="1131708" y="0"/>
                    </a:lnTo>
                    <a:lnTo>
                      <a:pt x="928508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01600" y="-28575"/>
                <a:ext cx="928508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653498" y="0"/>
              <a:ext cx="1747185" cy="645746"/>
              <a:chOff x="0" y="0"/>
              <a:chExt cx="1131708" cy="41827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31708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31708">
                    <a:moveTo>
                      <a:pt x="203200" y="0"/>
                    </a:moveTo>
                    <a:lnTo>
                      <a:pt x="1131708" y="0"/>
                    </a:lnTo>
                    <a:lnTo>
                      <a:pt x="928508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01600" y="-28575"/>
                <a:ext cx="928508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6215595" y="0"/>
              <a:ext cx="1747185" cy="645746"/>
              <a:chOff x="0" y="0"/>
              <a:chExt cx="1131708" cy="41827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31708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31708">
                    <a:moveTo>
                      <a:pt x="203200" y="0"/>
                    </a:moveTo>
                    <a:lnTo>
                      <a:pt x="1131708" y="0"/>
                    </a:lnTo>
                    <a:lnTo>
                      <a:pt x="928508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0D14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28575"/>
                <a:ext cx="928508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8116875" y="0"/>
              <a:ext cx="1747185" cy="645746"/>
              <a:chOff x="0" y="0"/>
              <a:chExt cx="1131708" cy="4182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31708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31708">
                    <a:moveTo>
                      <a:pt x="203200" y="0"/>
                    </a:moveTo>
                    <a:lnTo>
                      <a:pt x="1131708" y="0"/>
                    </a:lnTo>
                    <a:lnTo>
                      <a:pt x="928508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28575"/>
                <a:ext cx="928508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9400683" y="0"/>
              <a:ext cx="4445609" cy="645746"/>
              <a:chOff x="0" y="0"/>
              <a:chExt cx="823853" cy="11966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23853" cy="119669"/>
              </a:xfrm>
              <a:custGeom>
                <a:avLst/>
                <a:gdLst/>
                <a:ahLst/>
                <a:cxnLst/>
                <a:rect r="r" b="b" t="t" l="l"/>
                <a:pathLst>
                  <a:path h="119669" w="823853">
                    <a:moveTo>
                      <a:pt x="0" y="0"/>
                    </a:moveTo>
                    <a:lnTo>
                      <a:pt x="823853" y="0"/>
                    </a:lnTo>
                    <a:lnTo>
                      <a:pt x="823853" y="119669"/>
                    </a:lnTo>
                    <a:lnTo>
                      <a:pt x="0" y="119669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23853" cy="148244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6039347" y="0"/>
              <a:ext cx="1747185" cy="645746"/>
              <a:chOff x="0" y="0"/>
              <a:chExt cx="1131708" cy="4182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31708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1131708">
                    <a:moveTo>
                      <a:pt x="203200" y="0"/>
                    </a:moveTo>
                    <a:lnTo>
                      <a:pt x="1131708" y="0"/>
                    </a:lnTo>
                    <a:lnTo>
                      <a:pt x="928508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5EF4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28575"/>
                <a:ext cx="928508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4643827" y="0"/>
              <a:ext cx="12651845" cy="645746"/>
              <a:chOff x="0" y="0"/>
              <a:chExt cx="8195009" cy="4182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95009" cy="418270"/>
              </a:xfrm>
              <a:custGeom>
                <a:avLst/>
                <a:gdLst/>
                <a:ahLst/>
                <a:cxnLst/>
                <a:rect r="r" b="b" t="t" l="l"/>
                <a:pathLst>
                  <a:path h="418270" w="8195009">
                    <a:moveTo>
                      <a:pt x="203200" y="0"/>
                    </a:moveTo>
                    <a:lnTo>
                      <a:pt x="8195009" y="0"/>
                    </a:lnTo>
                    <a:lnTo>
                      <a:pt x="7991809" y="418270"/>
                    </a:lnTo>
                    <a:lnTo>
                      <a:pt x="0" y="4182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28575"/>
                <a:ext cx="7991809" cy="446845"/>
              </a:xfrm>
              <a:prstGeom prst="rect">
                <a:avLst/>
              </a:prstGeom>
            </p:spPr>
            <p:txBody>
              <a:bodyPr anchor="ctr" rtlCol="false" tIns="68928" lIns="68928" bIns="68928" rIns="68928"/>
              <a:lstStyle/>
              <a:p>
                <a:pPr algn="ctr">
                  <a:lnSpc>
                    <a:spcPts val="1765"/>
                  </a:lnSpc>
                </a:pPr>
              </a:p>
            </p:txBody>
          </p:sp>
        </p:grpSp>
        <p:sp>
          <p:nvSpPr>
            <p:cNvPr name="AutoShape 24" id="24"/>
            <p:cNvSpPr/>
            <p:nvPr/>
          </p:nvSpPr>
          <p:spPr>
            <a:xfrm flipH="true">
              <a:off x="18300965" y="316085"/>
              <a:ext cx="2823224" cy="0"/>
            </a:xfrm>
            <a:prstGeom prst="line">
              <a:avLst/>
            </a:prstGeom>
            <a:ln cap="flat" w="13575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2328233" y="65489"/>
              <a:ext cx="335158" cy="537647"/>
            </a:xfrm>
            <a:custGeom>
              <a:avLst/>
              <a:gdLst/>
              <a:ahLst/>
              <a:cxnLst/>
              <a:rect r="r" b="b" t="t" l="l"/>
              <a:pathLst>
                <a:path h="537647" w="335158">
                  <a:moveTo>
                    <a:pt x="0" y="0"/>
                  </a:moveTo>
                  <a:lnTo>
                    <a:pt x="335158" y="0"/>
                  </a:lnTo>
                  <a:lnTo>
                    <a:pt x="335158" y="537647"/>
                  </a:lnTo>
                  <a:lnTo>
                    <a:pt x="0" y="53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42209" t="-596077" r="-473435" b="-1700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21124189" y="56020"/>
              <a:ext cx="1204044" cy="539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Devotion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Transparency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Friendliness</a:t>
              </a:r>
            </a:p>
            <a:p>
              <a:pPr algn="r">
                <a:lnSpc>
                  <a:spcPts val="831"/>
                </a:lnSpc>
              </a:pPr>
              <a:r>
                <a:rPr lang="en-US" b="true" sz="848">
                  <a:solidFill>
                    <a:srgbClr val="073285"/>
                  </a:solidFill>
                  <a:latin typeface="UTM Avo Bold"/>
                  <a:ea typeface="UTM Avo Bold"/>
                  <a:cs typeface="UTM Avo Bold"/>
                  <a:sym typeface="UTM Avo Bold"/>
                </a:rPr>
                <a:t>Innovation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0" y="0"/>
              <a:ext cx="6981439" cy="645746"/>
              <a:chOff x="0" y="0"/>
              <a:chExt cx="1290123" cy="11932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290123" cy="119329"/>
              </a:xfrm>
              <a:custGeom>
                <a:avLst/>
                <a:gdLst/>
                <a:ahLst/>
                <a:cxnLst/>
                <a:rect r="r" b="b" t="t" l="l"/>
                <a:pathLst>
                  <a:path h="119329" w="1290123">
                    <a:moveTo>
                      <a:pt x="0" y="0"/>
                    </a:moveTo>
                    <a:lnTo>
                      <a:pt x="1290123" y="0"/>
                    </a:lnTo>
                    <a:lnTo>
                      <a:pt x="1290123" y="119329"/>
                    </a:lnTo>
                    <a:lnTo>
                      <a:pt x="0" y="119329"/>
                    </a:lnTo>
                    <a:close/>
                  </a:path>
                </a:pathLst>
              </a:custGeom>
              <a:solidFill>
                <a:srgbClr val="062F7A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1290123" cy="1669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3"/>
                  </a:lnSpc>
                </a:pPr>
              </a:p>
            </p:txBody>
          </p:sp>
        </p:grpSp>
      </p:grpSp>
      <p:sp>
        <p:nvSpPr>
          <p:cNvPr name="TextBox 30" id="30"/>
          <p:cNvSpPr txBox="true"/>
          <p:nvPr/>
        </p:nvSpPr>
        <p:spPr>
          <a:xfrm rot="0">
            <a:off x="379068" y="9893440"/>
            <a:ext cx="6173976" cy="72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HUỲNH LÊ NGỌC TRINH-DA23TTB-110123058</a:t>
            </a:r>
          </a:p>
          <a:p>
            <a:pPr algn="l">
              <a:lnSpc>
                <a:spcPts val="2863"/>
              </a:lnSpc>
            </a:pPr>
            <a:r>
              <a:rPr lang="en-US" b="true" sz="2045" spc="-67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﻿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69471" y="9697839"/>
            <a:ext cx="1232815" cy="5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sz="3389">
                <a:solidFill>
                  <a:srgbClr val="00366B"/>
                </a:solidFill>
                <a:latin typeface="Noto Sans"/>
                <a:ea typeface="Noto Sans"/>
                <a:cs typeface="Noto Sans"/>
                <a:sym typeface="Noto Sans"/>
              </a:rPr>
              <a:t>01/15</a:t>
            </a:r>
          </a:p>
        </p:txBody>
      </p:sp>
      <p:sp>
        <p:nvSpPr>
          <p:cNvPr name="AutoShape 32" id="32"/>
          <p:cNvSpPr/>
          <p:nvPr/>
        </p:nvSpPr>
        <p:spPr>
          <a:xfrm flipH="true">
            <a:off x="7944875" y="5827424"/>
            <a:ext cx="100254" cy="103031"/>
          </a:xfrm>
          <a:prstGeom prst="line">
            <a:avLst/>
          </a:prstGeom>
          <a:ln cap="flat" w="38100">
            <a:solidFill>
              <a:srgbClr val="00569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3" id="33"/>
          <p:cNvSpPr txBox="true"/>
          <p:nvPr/>
        </p:nvSpPr>
        <p:spPr>
          <a:xfrm rot="0">
            <a:off x="2239520" y="594789"/>
            <a:ext cx="10411381" cy="68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9"/>
              </a:lnSpc>
            </a:pPr>
            <a:r>
              <a:rPr lang="en-US" sz="4042" spc="-133" b="true">
                <a:solidFill>
                  <a:srgbClr val="062F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II. Nội dung nghiên cứu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0263" y="2665362"/>
            <a:ext cx="952500" cy="66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  <a:spcBef>
                <a:spcPct val="0"/>
              </a:spcBef>
            </a:pPr>
            <a:r>
              <a:rPr lang="en-US" b="true" sz="3949" spc="165" strike="noStrike" u="none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18366" y="2494851"/>
            <a:ext cx="8819592" cy="176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10"/>
              </a:lnSpc>
              <a:spcBef>
                <a:spcPct val="0"/>
              </a:spcBef>
            </a:pPr>
            <a:r>
              <a:rPr lang="en-US" b="true" sz="10364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736916" y="5778432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5" y="0"/>
                </a:lnTo>
                <a:lnTo>
                  <a:pt x="399175" y="399175"/>
                </a:lnTo>
                <a:lnTo>
                  <a:pt x="0" y="399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36916" y="6339014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5" y="0"/>
                </a:lnTo>
                <a:lnTo>
                  <a:pt x="399175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736916" y="6907158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5" y="0"/>
                </a:lnTo>
                <a:lnTo>
                  <a:pt x="399175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5763347" y="5250366"/>
            <a:ext cx="4069598" cy="33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74"/>
              </a:lnSpc>
              <a:spcBef>
                <a:spcPct val="0"/>
              </a:spcBef>
            </a:pPr>
            <a:r>
              <a:rPr lang="en-US" sz="1910" spc="-38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CEO &amp; Founder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73438" y="6281864"/>
            <a:ext cx="3788059" cy="32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34"/>
              </a:lnSpc>
              <a:spcBef>
                <a:spcPct val="0"/>
              </a:spcBef>
            </a:pPr>
            <a:r>
              <a:rPr lang="en-US" sz="1810" spc="-3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73438" y="6905490"/>
            <a:ext cx="3788059" cy="63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34"/>
              </a:lnSpc>
              <a:spcBef>
                <a:spcPct val="0"/>
              </a:spcBef>
            </a:pPr>
            <a:r>
              <a:rPr lang="en-US" sz="1810" spc="-3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123 Anywhere St., Any City, State, Country 12345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73438" y="5761462"/>
            <a:ext cx="3559508" cy="32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34"/>
              </a:lnSpc>
              <a:spcBef>
                <a:spcPct val="0"/>
              </a:spcBef>
            </a:pPr>
            <a:r>
              <a:rPr lang="en-US" sz="1810" spc="-3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+123-456-7890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4925441" y="3609788"/>
            <a:ext cx="9392643" cy="9529477"/>
          </a:xfrm>
          <a:custGeom>
            <a:avLst/>
            <a:gdLst/>
            <a:ahLst/>
            <a:cxnLst/>
            <a:rect r="r" b="b" t="t" l="l"/>
            <a:pathLst>
              <a:path h="9529477" w="9392643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0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DAG9b7P8ay0</dc:identifier>
  <dcterms:modified xsi:type="dcterms:W3CDTF">2011-08-01T06:04:30Z</dcterms:modified>
  <cp:revision>1</cp:revision>
  <dc:title>csn-110123058-huynhlengoctrinh</dc:title>
</cp:coreProperties>
</file>